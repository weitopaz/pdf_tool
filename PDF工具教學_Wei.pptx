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PDF 小工具教學（合併／旋轉／分割）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單檔 HTML 專案｜所有處理在本機瀏覽器完成（Chrome／Edge）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課程地圖（由大到小）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全貌：HTML 結構 + CSS 外觀 + JavaScript 行為 + 外掛庫</a:t>
            </a:r>
          </a:p>
          <a:p>
            <a:pPr>
              <a:defRPr sz="2200"/>
            </a:pPr>
            <a:r>
              <a:t>使用情境：合併／旋轉／分割 的操作流程</a:t>
            </a:r>
          </a:p>
          <a:p>
            <a:pPr>
              <a:defRPr sz="2200"/>
            </a:pPr>
            <a:r>
              <a:t>基礎概念：DOM、事件、檔案讀取、Promise、async/await</a:t>
            </a:r>
          </a:p>
          <a:p>
            <a:pPr>
              <a:defRPr sz="2200"/>
            </a:pPr>
            <a:r>
              <a:t>程式區塊：Helpers → Tabs → Merge → Rotate → Split</a:t>
            </a:r>
          </a:p>
          <a:p>
            <a:pPr>
              <a:defRPr sz="2200"/>
            </a:pPr>
            <a:r>
              <a:t>實作：加值小功能 &amp; 除錯心法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成品與操作流程（合併頁）</a:t>
            </a:r>
          </a:p>
        </p:txBody>
      </p:sp>
      <p:pic>
        <p:nvPicPr>
          <p:cNvPr id="3" name="Picture 2" descr="5D3D1E57-EC8A-45FD-BA69-C7AF326C81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315200" cy="38466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91440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操作步驟：
1. 拖放多個 PDF 或按「選擇檔案」。
2. 以上下箭頭調整順序。
3. 按「合併並下載」，輸出 merged.pdf。
關鍵特色：
• 所有處理在本機端（隱私安全）
• 大量頁數可行
• 右側即時日誌（aria-live）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單一 HTML 檔：結構與外掛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HTML：標題列、三個工具面板（合併／旋轉／分割）</a:t>
            </a:r>
          </a:p>
          <a:p>
            <a:pPr>
              <a:defRPr sz="2200"/>
            </a:pPr>
            <a:r>
              <a:t>CSS：主題色（CSS 變數）、網格排版、按鈕卡片</a:t>
            </a:r>
          </a:p>
          <a:p>
            <a:pPr>
              <a:defRPr sz="2200"/>
            </a:pPr>
            <a:r>
              <a:t>JavaScript：頁籤切換、拖放上傳、PDF 操作、ZIP 下載、日誌</a:t>
            </a:r>
          </a:p>
          <a:p>
            <a:pPr>
              <a:defRPr sz="2200"/>
            </a:pPr>
            <a:r>
              <a:t>外掛庫：pdf-lib（處理 PDF）、JSZip（ZIP 打包）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介面對照（合併）</a:t>
            </a:r>
          </a:p>
        </p:txBody>
      </p:sp>
      <p:pic>
        <p:nvPicPr>
          <p:cNvPr id="3" name="Picture 2" descr="5D3D1E57-EC8A-45FD-BA69-C7AF326C81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772400" cy="408704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005840"/>
            <a:ext cx="2377440" cy="457200"/>
          </a:xfrm>
          <a:prstGeom prst="roundRect">
            <a:avLst/>
          </a:prstGeom>
          <a:solidFill>
            <a:srgbClr val="182159"/>
          </a:solidFill>
          <a:ln>
            <a:solidFill>
              <a:srgbClr val="325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DCE6FF"/>
                </a:solidFill>
              </a:defRPr>
            </a:pPr>
            <a:r>
              <a:t>A 標籤切換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828800"/>
            <a:ext cx="2377440" cy="457200"/>
          </a:xfrm>
          <a:prstGeom prst="roundRect">
            <a:avLst/>
          </a:prstGeom>
          <a:solidFill>
            <a:srgbClr val="182159"/>
          </a:solidFill>
          <a:ln>
            <a:solidFill>
              <a:srgbClr val="325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DCE6FF"/>
                </a:solidFill>
              </a:defRPr>
            </a:pPr>
            <a:r>
              <a:t>B 拖放／選檔區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383280"/>
            <a:ext cx="2377440" cy="457200"/>
          </a:xfrm>
          <a:prstGeom prst="roundRect">
            <a:avLst/>
          </a:prstGeom>
          <a:solidFill>
            <a:srgbClr val="182159"/>
          </a:solidFill>
          <a:ln>
            <a:solidFill>
              <a:srgbClr val="325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DCE6FF"/>
                </a:solidFill>
              </a:defRPr>
            </a:pPr>
            <a:r>
              <a:t>C 檔案列表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206240"/>
            <a:ext cx="2377440" cy="457200"/>
          </a:xfrm>
          <a:prstGeom prst="roundRect">
            <a:avLst/>
          </a:prstGeom>
          <a:solidFill>
            <a:srgbClr val="182159"/>
          </a:solidFill>
          <a:ln>
            <a:solidFill>
              <a:srgbClr val="325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DCE6FF"/>
                </a:solidFill>
              </a:defRPr>
            </a:pPr>
            <a:r>
              <a:t>D 操作列（清空／合併）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2377440" cy="457200"/>
          </a:xfrm>
          <a:prstGeom prst="roundRect">
            <a:avLst/>
          </a:prstGeom>
          <a:solidFill>
            <a:srgbClr val="182159"/>
          </a:solidFill>
          <a:ln>
            <a:solidFill>
              <a:srgbClr val="325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DCE6FF"/>
                </a:solidFill>
              </a:defRPr>
            </a:pPr>
            <a:r>
              <a:t>E 功能貼紙（chips）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377440"/>
            <a:ext cx="2377440" cy="457200"/>
          </a:xfrm>
          <a:prstGeom prst="roundRect">
            <a:avLst/>
          </a:prstGeom>
          <a:solidFill>
            <a:srgbClr val="182159"/>
          </a:solidFill>
          <a:ln>
            <a:solidFill>
              <a:srgbClr val="325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DCE6FF"/>
                </a:solidFill>
              </a:defRPr>
            </a:pPr>
            <a:r>
              <a:t>F 右側日誌（aria-live）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Helpers（工具函式）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$ / $$：DOM 選取器縮寫</a:t>
            </a:r>
          </a:p>
          <a:p>
            <a:pPr>
              <a:defRPr sz="2200"/>
            </a:pPr>
            <a:r>
              <a:t>log / clearLog：右側日誌訊息（✅⚠️❌）</a:t>
            </a:r>
          </a:p>
          <a:p>
            <a:pPr>
              <a:defRPr sz="2200"/>
            </a:pPr>
            <a:r>
              <a:t>readAsArrayBuffer：FileReader 讀檔 → ArrayBuffer</a:t>
            </a:r>
          </a:p>
          <a:p>
            <a:pPr>
              <a:defRPr sz="2200"/>
            </a:pPr>
            <a:r>
              <a:t>downloadBlob：建立 a 標籤觸發下載</a:t>
            </a:r>
          </a:p>
          <a:p>
            <a:pPr>
              <a:defRPr sz="2200"/>
            </a:pPr>
            <a:r>
              <a:t>baseName：檔名處理（去副檔名）</a:t>
            </a:r>
          </a:p>
          <a:p>
            <a:pPr>
              <a:defRPr sz="2200"/>
            </a:pPr>
            <a:r>
              <a:t>parseRanges：將 '1-3,5,7-8' 轉成頁索引陣列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核心：parseRanges（頁碼字串 → 索引）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686800" cy="4206240"/>
          </a:xfrm>
          <a:prstGeom prst="rect">
            <a:avLst/>
          </a:prstGeom>
          <a:solidFill>
            <a:srgbClr val="1E2236"/>
          </a:solidFill>
          <a:ln>
            <a:solidFill>
              <a:srgbClr val="46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DCE6FF"/>
                </a:solidFill>
                <a:latin typeface="Courier New"/>
              </a:rPr>
              <a:t>function parseRanges(input, total){
  if(!input || !input.trim()){
    return Array.from({length: total}, (_,i)=&gt;i);
  }
  const set = new Set();
  const parts = input.split(',').map(s=&gt;s.trim()).filter(Boolean);
  for(const p of parts){
    if(/^-?\d+$/.test(p)){
      const n = Math.max(1, Math.min(total, parseInt(p,10)));
      set.add(n-1);
    } else {
      const m = p.match(/^(\d+)\s*[-–]\s*(\d+)$/);
      if(m){
        let s = parseInt(m[1],10), e = parseInt(m[2],10);
        if(s&gt;e) [s,e] = [e,s];
        s = Math.max(1, s); e = Math.min(total, e);
        for(let i=s;i&lt;=e;i++) set.add(i-1);
      }
    }
  }
  return Array.from(set).sort((a,b)=&gt;a-b);
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重點：去重、排序、夾在 1..total 範圍；空字串＝全部頁。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合併（Merge）：流程與程式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輸入：多個 PDF（拖放或選檔）→ mergeState[]
• 流程：逐檔 load → copyPages → addPage → out.save()
• 輸出：merged.pdf（本機下載）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914400"/>
            <a:ext cx="4572000" cy="3200400"/>
          </a:xfrm>
          <a:prstGeom prst="rect">
            <a:avLst/>
          </a:prstGeom>
          <a:solidFill>
            <a:srgbClr val="1E2236"/>
          </a:solidFill>
          <a:ln>
            <a:solidFill>
              <a:srgbClr val="46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DCE6FF"/>
                </a:solidFill>
                <a:latin typeface="Courier New"/>
              </a:rPr>
              <a:t>const out = await PDFDocument.create();
let totalPages = 0;
for (const item of mergeState){
  const bytes = await readAsArrayBuffer(item.file);
  const src = await PDFDocument.load(bytes);
  const pages = await out.copyPages(src, src.getPageIndices());
  pages.forEach(p =&gt; out.addPage(p));
  totalPages += pages.length;
}
const outBytes = await out.save({ addDefaultPage: false });
downloadBlob(new Blob([outBytes], {type:'application/pdf'}), 'merged.pdf');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旋轉（Rotate）：流程與程式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步驟：
1. 選單一 PDF
2. 選角度（90／180／270）
3. 頁碼範圍（可空＝全部）
4. 下載「檔名-rotated.pdf」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914400"/>
            <a:ext cx="4572000" cy="3200400"/>
          </a:xfrm>
          <a:prstGeom prst="rect">
            <a:avLst/>
          </a:prstGeom>
          <a:solidFill>
            <a:srgbClr val="1E2236"/>
          </a:solidFill>
          <a:ln>
            <a:solidFill>
              <a:srgbClr val="46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CE6FF"/>
                </a:solidFill>
                <a:latin typeface="Courier New"/>
              </a:rPr>
              <a:t>const deg = parseInt($('#rotate-deg').value,10) % 360;
const bytes = await readAsArrayBuffer(rotateFile);
const doc = await PDFDocument.load(bytes);
const total = doc.getPageCount();
const targets = parseRanges($('#rotate-range').value.trim(), total);
for(const i of targets){
  const page = doc.getPage(i);
  const cur = page.getRotation().angle || 0;
  page.setRotation(degrees((cur + deg) % 360));
}
const out = await doc.save();
downloadBlob(new Blob([out], {type:'application/pdf'}),
             baseName(rotateFile.name) + '-rotated.pdf');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分割（Split）：流程與程式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模式：
• 每頁一檔（忽略範圍）
• 依範圍分段：parseRanges 後把連號頁組成群組
建議：多檔時以 ZIP 打包下載。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914400"/>
            <a:ext cx="4572000" cy="3474720"/>
          </a:xfrm>
          <a:prstGeom prst="rect">
            <a:avLst/>
          </a:prstGeom>
          <a:solidFill>
            <a:srgbClr val="1E2236"/>
          </a:solidFill>
          <a:ln>
            <a:solidFill>
              <a:srgbClr val="46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DCE6FF"/>
                </a:solidFill>
                <a:latin typeface="Courier New"/>
              </a:rPr>
              <a:t>const src = await PDFDocument.load(await readAsArrayBuffer(splitFile));
const total = src.getPageCount();
const each = $('#split-each').checked;
let groups = each ? Array.from({length: total}, (_,i)=&gt;[i]) : (function(){
  const ranges = parseRanges($('#split-range').value.trim(), total);
  const out=[]; let cur=[];
  for (const n of ranges){ if(!cur.length || n===cur[cur.length-1]+1) cur.push(n); else { out.push(cur); cur=[n]; } }
  if(cur.length) out.push(cur); return out;
})();
const base = baseName(splitFile.name); const files = [];
for(const g of groups){
  const doc = await PDFDocument.create();
  const pages = await doc.copyPages(src, g);
  pages.forEach(p=&gt;doc.addPage(p));
  const out = await doc.save();
  const first=g[0]+1, last=g[g.length-1]+1;
  const name = `${base}-p${first}${first!==last?'-'+last:''}.pdf`;
  files.push({name, blob:new Blob([out], {type:'application/pdf'})});
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可近用性（A11y）與回饋設計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語意化：tablist / tab / tabpanel + aria-controls / aria-selected</a:t>
            </a:r>
          </a:p>
          <a:p>
            <a:pPr>
              <a:defRPr sz="2200"/>
            </a:pPr>
            <a:r>
              <a:t>即時回饋：右側日誌區使用 aria-live="polite"</a:t>
            </a:r>
          </a:p>
          <a:p>
            <a:pPr>
              <a:defRPr sz="2200"/>
            </a:pPr>
            <a:r>
              <a:t>鍵盤友善：按鈕與清單能用鍵盤操作（可延伸）</a:t>
            </a:r>
          </a:p>
          <a:p>
            <a:pPr>
              <a:defRPr sz="2200"/>
            </a:pPr>
            <a:r>
              <a:t>錯誤可見：✅ 成功 / ⚠️ 注意 / ❌ 失敗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效能・限制・相容性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瀏覽器記憶體限制：超大檔或很多頁會變慢</a:t>
            </a:r>
          </a:p>
          <a:p>
            <a:pPr>
              <a:defRPr sz="2200"/>
            </a:pPr>
            <a:r>
              <a:t>大量操作仍可能卡頓（可加入進度條）</a:t>
            </a:r>
          </a:p>
          <a:p>
            <a:pPr>
              <a:defRPr sz="2200"/>
            </a:pPr>
            <a:r>
              <a:t>相容：最新 Chrome／Edge；CDN 載入 pdf-lib &amp; JSZip</a:t>
            </a:r>
          </a:p>
          <a:p>
            <a:pPr>
              <a:defRPr sz="2200"/>
            </a:pPr>
            <a:r>
              <a:t>離線需求：改為內嵌或本地 bundling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常見問題（FAQ）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下載沒反應：檢查瀏覽器是否阻擋彈出或下載</a:t>
            </a:r>
          </a:p>
          <a:p>
            <a:pPr>
              <a:defRPr sz="2200"/>
            </a:pPr>
            <a:r>
              <a:t>旋轉方向怪：本工具為『相對角度』，可能疊加</a:t>
            </a:r>
          </a:p>
          <a:p>
            <a:pPr>
              <a:defRPr sz="2200"/>
            </a:pPr>
            <a:r>
              <a:t>範圍無效：格式 1-3,5,7-8；空白＝全部</a:t>
            </a:r>
          </a:p>
          <a:p>
            <a:pPr>
              <a:defRPr sz="2200"/>
            </a:pPr>
            <a:r>
              <a:t>分割很多檔：建議以 ZIP 方式一次下載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練習題與延伸方向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A. 進度條：顯示合併／分割進度百分比</a:t>
            </a:r>
          </a:p>
          <a:p>
            <a:pPr>
              <a:defRPr sz="2200"/>
            </a:pPr>
            <a:r>
              <a:t>B. 合併頁面範圍：每個來源檔也支援 parseRanges</a:t>
            </a:r>
          </a:p>
          <a:p>
            <a:pPr>
              <a:defRPr sz="2200"/>
            </a:pPr>
            <a:r>
              <a:t>C. 預覽縮圖：結合 pdf.js 產出 Canvas 縮圖</a:t>
            </a:r>
          </a:p>
          <a:p>
            <a:pPr>
              <a:defRPr sz="2200"/>
            </a:pPr>
            <a:r>
              <a:t>D. 鍵盤排序：合併清單支援 Ctrl+↑/↓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小結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理解單檔 HTML 專案的結構與責任分工</a:t>
            </a:r>
          </a:p>
          <a:p>
            <a:pPr>
              <a:defRPr sz="2200"/>
            </a:pPr>
            <a:r>
              <a:t>能看懂並修改合併／旋轉／分割三大功能</a:t>
            </a:r>
          </a:p>
          <a:p>
            <a:pPr>
              <a:defRPr sz="2200"/>
            </a:pPr>
            <a:r>
              <a:t>具備加值與擴充的方向（進度、預覽、快捷鍵）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